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58" r:id="rId2"/>
  </p:sldMasterIdLst>
  <p:notesMasterIdLst>
    <p:notesMasterId r:id="rId27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9144000" cy="5143500" type="screen16x9"/>
  <p:notesSz cx="9296400" cy="7010400"/>
  <p:embeddedFontLst>
    <p:embeddedFont>
      <p:font typeface="Montserrat" pitchFamily="2" charset="77"/>
      <p:regular r:id="rId28"/>
      <p:bold r:id="rId29"/>
      <p:italic r:id="rId30"/>
      <p:boldItalic r:id="rId31"/>
    </p:embeddedFont>
    <p:embeddedFont>
      <p:font typeface="Montserrat Black" panose="00000A00000000000000"/>
      <p:bold r:id="rId32"/>
      <p:italic r:id="rId33"/>
      <p:boldItalic r:id="rId34"/>
    </p:embeddedFont>
    <p:embeddedFont>
      <p:font typeface="Montserrat ExtraBold" panose="00000900000000000000" pitchFamily="2" charset="77"/>
      <p:bold r:id="rId35"/>
      <p:italic r:id="rId36"/>
      <p:boldItalic r:id="rId37"/>
    </p:embeddedFont>
    <p:embeddedFont>
      <p:font typeface="Montserrat Medium" panose="00000600000000000000"/>
      <p:regular r:id="rId38"/>
      <p:bold r:id="rId39"/>
      <p:italic r:id="rId40"/>
      <p:boldItalic r:id="rId41"/>
    </p:embeddedFont>
    <p:embeddedFont>
      <p:font typeface="Roboto Mono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208">
          <p15:clr>
            <a:srgbClr val="A4A3A4"/>
          </p15:clr>
        </p15:guide>
        <p15:guide id="4" pos="2928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8" roundtripDataSignature="AMtx7mjzPJRDCeYQW0YgTA74uSeqHuYs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59EF445-7C0D-49B7-814E-975EADA506A2}">
  <a:tblStyle styleId="{159EF445-7C0D-49B7-814E-975EADA506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3"/>
  </p:normalViewPr>
  <p:slideViewPr>
    <p:cSldViewPr snapToGrid="0">
      <p:cViewPr varScale="1">
        <p:scale>
          <a:sx n="156" d="100"/>
          <a:sy n="156" d="100"/>
        </p:scale>
        <p:origin x="55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  <p:guide orient="horz" pos="2208"/>
        <p:guide pos="292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12.fntdata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2.fntdata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265809" y="0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311400" y="525463"/>
            <a:ext cx="46736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658664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bc13e29ba_0_10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bc13e29ba_0_1023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bc13e29ba_0_8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bc13e29ba_0_889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bc13e29ba_0_19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dbc13e29ba_0_1943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bc13e29ba_0_19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bc13e29ba_0_1948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dbc13e29ba_0_1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dbc13e29ba_0_1953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bc13e29ba_0_19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bc13e29ba_0_1958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bc13e29ba_0_19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bc13e29ba_0_1964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bc13e29ba_0_19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bc13e29ba_0_1974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bc13e29ba_0_19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bc13e29ba_0_1985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bc13e29ba_0_19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bc13e29ba_0_1994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bc13e29ba_0_20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bc13e29ba_0_2003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dbc13e29ba_0_2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5188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dbc13e29ba_0_2017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bc13e29ba_0_2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bc13e29ba_0_2029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dbc13e29ba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dbc13e29ba_3_0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dbc13e29ba_3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5188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dbc13e29ba_3_11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bc13e29ba_3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bc13e29ba_3_26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bc13e29ba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7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bc13e29ba_1_34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3dbc13e29ba_1_34:notes"/>
          <p:cNvSpPr txBox="1">
            <a:spLocks noGrp="1"/>
          </p:cNvSpPr>
          <p:nvPr>
            <p:ph type="sldNum" idx="12"/>
          </p:nvPr>
        </p:nvSpPr>
        <p:spPr>
          <a:xfrm>
            <a:off x="5265809" y="6658664"/>
            <a:ext cx="4028400" cy="350400"/>
          </a:xfrm>
          <a:prstGeom prst="rect">
            <a:avLst/>
          </a:prstGeom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dbc13e29ba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7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dbc13e29ba_1_68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g3dbc13e29ba_1_68:notes"/>
          <p:cNvSpPr txBox="1">
            <a:spLocks noGrp="1"/>
          </p:cNvSpPr>
          <p:nvPr>
            <p:ph type="sldNum" idx="12"/>
          </p:nvPr>
        </p:nvSpPr>
        <p:spPr>
          <a:xfrm>
            <a:off x="5265809" y="6658664"/>
            <a:ext cx="4028400" cy="350400"/>
          </a:xfrm>
          <a:prstGeom prst="rect">
            <a:avLst/>
          </a:prstGeom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dbc13e29ba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7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dbc13e29ba_4_0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g3dbc13e29ba_4_0:notes"/>
          <p:cNvSpPr txBox="1">
            <a:spLocks noGrp="1"/>
          </p:cNvSpPr>
          <p:nvPr>
            <p:ph type="sldNum" idx="12"/>
          </p:nvPr>
        </p:nvSpPr>
        <p:spPr>
          <a:xfrm>
            <a:off x="5265809" y="6658664"/>
            <a:ext cx="4028400" cy="350400"/>
          </a:xfrm>
          <a:prstGeom prst="rect">
            <a:avLst/>
          </a:prstGeom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dbc13e29ba_4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11400" y="525463"/>
            <a:ext cx="46737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dbc13e29ba_4_14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dbc13e29ba_4_14:notes"/>
          <p:cNvSpPr txBox="1">
            <a:spLocks noGrp="1"/>
          </p:cNvSpPr>
          <p:nvPr>
            <p:ph type="sldNum" idx="12"/>
          </p:nvPr>
        </p:nvSpPr>
        <p:spPr>
          <a:xfrm>
            <a:off x="5265809" y="6658664"/>
            <a:ext cx="4028400" cy="350400"/>
          </a:xfrm>
          <a:prstGeom prst="rect">
            <a:avLst/>
          </a:prstGeom>
        </p:spPr>
        <p:txBody>
          <a:bodyPr spcFirstLastPara="1" wrap="square" lIns="93175" tIns="46575" rIns="93175" bIns="465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dbc13e29ba_0_1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dbc13e29ba_0_1809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dbc13e29ba_0_19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dbc13e29ba_0_1937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bc13e29ba_0_1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bc13e29ba_0_1552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dbc13e29ba_3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6873" y="525780"/>
            <a:ext cx="8263500" cy="2628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dbc13e29ba_3_49:notes"/>
          <p:cNvSpPr txBox="1">
            <a:spLocks noGrp="1"/>
          </p:cNvSpPr>
          <p:nvPr>
            <p:ph type="body" idx="1"/>
          </p:nvPr>
        </p:nvSpPr>
        <p:spPr>
          <a:xfrm>
            <a:off x="929640" y="3329940"/>
            <a:ext cx="7437000" cy="3154800"/>
          </a:xfrm>
          <a:prstGeom prst="rect">
            <a:avLst/>
          </a:prstGeom>
        </p:spPr>
        <p:txBody>
          <a:bodyPr spcFirstLastPara="1" wrap="square" lIns="93175" tIns="46575" rIns="93175" bIns="465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4620498"/>
            <a:ext cx="9144000" cy="523003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5"/>
          <p:cNvSpPr/>
          <p:nvPr/>
        </p:nvSpPr>
        <p:spPr>
          <a:xfrm>
            <a:off x="12" y="4570634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" name="Google Shape;19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9887" y="4765128"/>
            <a:ext cx="2171541" cy="293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5239" y="4620497"/>
            <a:ext cx="490700" cy="523003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>
                <a:solidFill>
                  <a:srgbClr val="262626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825038" y="3341716"/>
            <a:ext cx="75438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45700" rIns="68575" bIns="45700" anchor="t" anchorCtr="0">
            <a:normAutofit/>
          </a:bodyPr>
          <a:lstStyle>
            <a:lvl1pPr marR="0" lvl="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ourier New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cxnSp>
        <p:nvCxnSpPr>
          <p:cNvPr id="23" name="Google Shape;23;p5"/>
          <p:cNvCxnSpPr/>
          <p:nvPr/>
        </p:nvCxnSpPr>
        <p:spPr>
          <a:xfrm>
            <a:off x="905744" y="3257550"/>
            <a:ext cx="740664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5"/>
          <p:cNvSpPr txBox="1">
            <a:spLocks noGrp="1"/>
          </p:cNvSpPr>
          <p:nvPr>
            <p:ph type="ftr" idx="11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7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4620498"/>
            <a:ext cx="9144000" cy="523003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"/>
          <p:cNvSpPr txBox="1"/>
          <p:nvPr/>
        </p:nvSpPr>
        <p:spPr>
          <a:xfrm>
            <a:off x="6936895" y="4869656"/>
            <a:ext cx="984019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" name="Google Shape;28;p5" descr="final-logo-3.eps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81620" y="4717892"/>
            <a:ext cx="923615" cy="675657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/>
          <p:nvPr/>
        </p:nvSpPr>
        <p:spPr>
          <a:xfrm>
            <a:off x="2764639" y="4844839"/>
            <a:ext cx="3617103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0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2018 NYU WIRELESS</a:t>
            </a:r>
            <a:endParaRPr/>
          </a:p>
        </p:txBody>
      </p:sp>
      <p:pic>
        <p:nvPicPr>
          <p:cNvPr id="30" name="Google Shape;30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2270" y="4702726"/>
            <a:ext cx="2113225" cy="33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ntent">
  <p:cSld name="11_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168614" y="818613"/>
            <a:ext cx="8832714" cy="405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1763948" y="-20318"/>
            <a:ext cx="5713379" cy="697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7010400" y="48688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>
            <a:spLocks noGrp="1"/>
          </p:cNvSpPr>
          <p:nvPr>
            <p:ph type="pic" idx="2"/>
          </p:nvPr>
        </p:nvSpPr>
        <p:spPr>
          <a:xfrm>
            <a:off x="-9144" y="0"/>
            <a:ext cx="9153144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27752" y="1532443"/>
            <a:ext cx="3637261" cy="1811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3"/>
          </p:nvPr>
        </p:nvSpPr>
        <p:spPr>
          <a:xfrm>
            <a:off x="227012" y="3718898"/>
            <a:ext cx="1783159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Content">
  <p:cSld name="Section Title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9153525" cy="5157788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/>
        </p:nvSpPr>
        <p:spPr>
          <a:xfrm>
            <a:off x="8315325" y="292100"/>
            <a:ext cx="18415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4480560" cy="5156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997268" y="1583857"/>
            <a:ext cx="3737844" cy="313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4" name="Google Shape;4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19638" y="238125"/>
            <a:ext cx="1487999" cy="231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>
  <p:cSld name="Content and Image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 txBox="1">
            <a:spLocks noGrp="1"/>
          </p:cNvSpPr>
          <p:nvPr>
            <p:ph type="body" idx="1"/>
          </p:nvPr>
        </p:nvSpPr>
        <p:spPr>
          <a:xfrm>
            <a:off x="501792" y="1583857"/>
            <a:ext cx="3810941" cy="31310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672577" y="712598"/>
            <a:ext cx="4480560" cy="4430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SzPts val="1400"/>
              <a:buNone/>
              <a:defRPr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43688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168614" y="818613"/>
            <a:ext cx="8832714" cy="4050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❑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⮚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sldNum" idx="12"/>
          </p:nvPr>
        </p:nvSpPr>
        <p:spPr>
          <a:xfrm>
            <a:off x="7010400" y="48688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title"/>
          </p:nvPr>
        </p:nvSpPr>
        <p:spPr>
          <a:xfrm>
            <a:off x="43688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bc13e29ba_0_1016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g3dbc13e29ba_0_1016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" name="Google Shape;57;g3dbc13e29ba_0_1016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4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g3dbc13e29ba_0_101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59" name="Google Shape;59;g3dbc13e29ba_0_1016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g3dbc13e29ba_0_10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>
  <p:cSld name="TITLE_1">
    <p:bg>
      <p:bgPr>
        <a:solidFill>
          <a:srgbClr val="57068C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3dbc13e29ba_0_11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dbc13e29ba_0_1149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64" name="Google Shape;64;g3dbc13e29ba_0_1149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g3dbc13e29ba_0_1149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dbc13e29ba_0_1149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-page image">
  <p:cSld name="CUSTOM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g3dbc13e29ba_0_1284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g3dbc13e29ba_0_128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0" name="Google Shape;70;g3dbc13e29ba_0_1284"/>
          <p:cNvSpPr txBox="1">
            <a:spLocks noGrp="1"/>
          </p:cNvSpPr>
          <p:nvPr>
            <p:ph type="body" idx="1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1" name="Google Shape;71;g3dbc13e29ba_0_128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2" name="Google Shape;72;g3dbc13e29ba_0_12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">
    <p:bg>
      <p:bgPr>
        <a:solidFill>
          <a:srgbClr val="57068C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g3dbc13e29ba_0_18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g3dbc13e29ba_0_1817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79" name="Google Shape;79;g3dbc13e29ba_0_1817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g3dbc13e29ba_0_1817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1" name="Google Shape;81;g3dbc13e29ba_0_1817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2">
  <p:cSld name="TITLE_1">
    <p:bg>
      <p:bgPr>
        <a:solidFill>
          <a:srgbClr val="57068C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g3dbc13e29ba_0_18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dbc13e29ba_0_1823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85" name="Google Shape;85;g3dbc13e29ba_0_1823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3dbc13e29ba_0_1823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87" name="Google Shape;87;g3dbc13e29ba_0_1823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_1_1_1">
    <p:bg>
      <p:bgPr>
        <a:solidFill>
          <a:srgbClr val="57068C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dbc13e29ba_0_18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g3dbc13e29ba_0_1829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91" name="Google Shape;91;g3dbc13e29ba_0_1829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dbc13e29ba_0_1829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3" name="Google Shape;93;g3dbc13e29ba_0_1829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5">
  <p:cSld name="TITLE_1_1_1_1">
    <p:bg>
      <p:bgPr>
        <a:solidFill>
          <a:srgbClr val="57068C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g3dbc13e29ba_0_18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dbc13e29ba_0_1835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97" name="Google Shape;97;g3dbc13e29ba_0_1835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3dbc13e29ba_0_1835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99" name="Google Shape;99;g3dbc13e29ba_0_1835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57068C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3dbc13e29ba_0_18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7" cy="514348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" name="Google Shape;102;g3dbc13e29ba_0_1841" descr=" "/>
          <p:cNvCxnSpPr/>
          <p:nvPr/>
        </p:nvCxnSpPr>
        <p:spPr>
          <a:xfrm>
            <a:off x="407168" y="2618527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3" name="Google Shape;103;g3dbc13e29ba_0_1841" descr=" 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dbc13e29ba_0_1841"/>
          <p:cNvSpPr txBox="1">
            <a:spLocks noGrp="1"/>
          </p:cNvSpPr>
          <p:nvPr>
            <p:ph type="title"/>
          </p:nvPr>
        </p:nvSpPr>
        <p:spPr>
          <a:xfrm>
            <a:off x="316950" y="457200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5" name="Google Shape;105;g3dbc13e29ba_0_1841"/>
          <p:cNvSpPr txBox="1">
            <a:spLocks noGrp="1"/>
          </p:cNvSpPr>
          <p:nvPr>
            <p:ph type="subTitle" idx="1"/>
          </p:nvPr>
        </p:nvSpPr>
        <p:spPr>
          <a:xfrm>
            <a:off x="316950" y="2938025"/>
            <a:ext cx="40317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bc13e29ba_0_1847"/>
          <p:cNvSpPr txBox="1">
            <a:spLocks noGrp="1"/>
          </p:cNvSpPr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08" name="Google Shape;108;g3dbc13e29ba_0_1847"/>
          <p:cNvSpPr txBox="1">
            <a:spLocks noGrp="1"/>
          </p:cNvSpPr>
          <p:nvPr>
            <p:ph type="body" idx="1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9" name="Google Shape;109;g3dbc13e29ba_0_184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" name="Google Shape;110;g3dbc13e29ba_0_1847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dbc13e29ba_0_18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bc13e29ba_0_185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114" name="Google Shape;114;g3dbc13e29ba_0_1853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dbc13e29ba_0_1853"/>
          <p:cNvSpPr txBox="1">
            <a:spLocks noGrp="1"/>
          </p:cNvSpPr>
          <p:nvPr>
            <p:ph type="body" idx="1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6" name="Google Shape;116;g3dbc13e29ba_0_1853"/>
          <p:cNvSpPr txBox="1">
            <a:spLocks noGrp="1"/>
          </p:cNvSpPr>
          <p:nvPr>
            <p:ph type="body" idx="2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7" name="Google Shape;117;g3dbc13e29ba_0_185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8" name="Google Shape;118;g3dbc13e29ba_0_18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bc13e29ba_0_18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121" name="Google Shape;121;g3dbc13e29ba_0_1860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dbc13e29ba_0_186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3" name="Google Shape;123;g3dbc13e29ba_0_18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dbc13e29ba_0_1865"/>
          <p:cNvSpPr txBox="1">
            <a:spLocks noGrp="1"/>
          </p:cNvSpPr>
          <p:nvPr>
            <p:ph type="title"/>
          </p:nvPr>
        </p:nvSpPr>
        <p:spPr>
          <a:xfrm>
            <a:off x="311700" y="426408"/>
            <a:ext cx="4308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Montserrat Black"/>
              <a:buNone/>
              <a:defRPr sz="36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26" name="Google Shape;126;g3dbc13e29ba_0_1865"/>
          <p:cNvSpPr txBox="1">
            <a:spLocks noGrp="1"/>
          </p:cNvSpPr>
          <p:nvPr>
            <p:ph type="body" idx="1"/>
          </p:nvPr>
        </p:nvSpPr>
        <p:spPr>
          <a:xfrm>
            <a:off x="311700" y="1646230"/>
            <a:ext cx="3350400" cy="24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27" name="Google Shape;127;g3dbc13e29ba_0_1865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g3dbc13e29ba_0_186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g3dbc13e29ba_0_18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rgbClr val="FFFFFF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dbc13e29ba_0_18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dbc13e29ba_0_1871"/>
          <p:cNvSpPr txBox="1">
            <a:spLocks noGrp="1"/>
          </p:cNvSpPr>
          <p:nvPr>
            <p:ph type="title"/>
          </p:nvPr>
        </p:nvSpPr>
        <p:spPr>
          <a:xfrm>
            <a:off x="407175" y="450150"/>
            <a:ext cx="8329500" cy="382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6000"/>
              <a:buFont typeface="Montserrat Black"/>
              <a:buNone/>
              <a:defRPr sz="6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Font typeface="Montserrat Black"/>
              <a:buNone/>
              <a:defRPr sz="60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133" name="Google Shape;133;g3dbc13e29ba_0_1871" descr="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dbc13e29ba_0_187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bc13e29ba_0_1876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g3dbc13e29ba_0_1876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8" name="Google Shape;138;g3dbc13e29ba_0_1876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9" name="Google Shape;139;g3dbc13e29ba_0_187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140" name="Google Shape;140;g3dbc13e29ba_0_1876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dbc13e29ba_0_187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-page image">
  <p:cSld name="CUSTOM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g3dbc13e29ba_0_1883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dbc13e29ba_0_188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145" name="Google Shape;145;g3dbc13e29ba_0_1883"/>
          <p:cNvSpPr txBox="1">
            <a:spLocks noGrp="1"/>
          </p:cNvSpPr>
          <p:nvPr>
            <p:ph type="body" idx="1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46" name="Google Shape;146;g3dbc13e29ba_0_188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7" name="Google Shape;147;g3dbc13e29ba_0_18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dbc13e29ba_0_188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dbc13e29ba_0_188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3dbc13e29ba_0_1889"/>
          <p:cNvSpPr txBox="1">
            <a:spLocks noGrp="1"/>
          </p:cNvSpPr>
          <p:nvPr>
            <p:ph type="title"/>
          </p:nvPr>
        </p:nvSpPr>
        <p:spPr>
          <a:xfrm>
            <a:off x="311700" y="3564945"/>
            <a:ext cx="4491300" cy="60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None/>
              <a:defRPr sz="14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dk1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g3dbc13e29ba_0_189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3dbc13e29ba_0_18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dbc13e29ba_0_1893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g3dbc13e29ba_0_1893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57" name="Google Shape;157;g3dbc13e29ba_0_1893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8" name="Google Shape;158;g3dbc13e29ba_0_189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bg>
      <p:bgPr>
        <a:solidFill>
          <a:schemeClr val="dk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g3dbc13e29ba_0_190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3dbc13e29ba_0_190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dbc13e29ba_0_1900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63" name="Google Shape;163;g3dbc13e29ba_0_1900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64" name="Google Shape;164;g3dbc13e29ba_0_1900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" name="Google Shape;165;g3dbc13e29ba_0_190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1">
  <p:cSld name="CUSTOM_1_1_1">
    <p:bg>
      <p:bgPr>
        <a:solidFill>
          <a:schemeClr val="dk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dbc13e29ba_0_190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dbc13e29ba_0_190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g3dbc13e29ba_0_1907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70" name="Google Shape;170;g3dbc13e29ba_0_190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71" name="Google Shape;171;g3dbc13e29ba_0_190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g3dbc13e29ba_0_190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bc13e29ba_0_1914"/>
          <p:cNvSpPr txBox="1">
            <a:spLocks noGrp="1"/>
          </p:cNvSpPr>
          <p:nvPr>
            <p:ph type="title" hasCustomPrompt="1"/>
          </p:nvPr>
        </p:nvSpPr>
        <p:spPr>
          <a:xfrm>
            <a:off x="311700" y="407700"/>
            <a:ext cx="8520600" cy="19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5000"/>
              <a:buFont typeface="Montserrat Black"/>
              <a:buNone/>
              <a:defRPr sz="150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5" name="Google Shape;175;g3dbc13e29ba_0_1914"/>
          <p:cNvSpPr txBox="1">
            <a:spLocks noGrp="1"/>
          </p:cNvSpPr>
          <p:nvPr>
            <p:ph type="body" idx="1"/>
          </p:nvPr>
        </p:nvSpPr>
        <p:spPr>
          <a:xfrm>
            <a:off x="2475675" y="3360362"/>
            <a:ext cx="41928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176" name="Google Shape;176;g3dbc13e29ba_0_1914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dbc13e29ba_0_19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g3dbc13e29ba_0_1914"/>
          <p:cNvSpPr txBox="1">
            <a:spLocks noGrp="1"/>
          </p:cNvSpPr>
          <p:nvPr>
            <p:ph type="subTitle" idx="2"/>
          </p:nvPr>
        </p:nvSpPr>
        <p:spPr>
          <a:xfrm>
            <a:off x="407175" y="2537800"/>
            <a:ext cx="8329200" cy="7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179" name="Google Shape;179;g3dbc13e29ba_0_19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g3dbc13e29ba_0_1921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g3dbc13e29ba_0_192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bc13e29ba_0_192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86" name="Google Shape;186;g3dbc13e29ba_0_192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7" name="Google Shape;187;g3dbc13e29ba_0_19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bc13e29ba_0_1929"/>
          <p:cNvSpPr txBox="1">
            <a:spLocks noGrp="1"/>
          </p:cNvSpPr>
          <p:nvPr>
            <p:ph type="title"/>
          </p:nvPr>
        </p:nvSpPr>
        <p:spPr>
          <a:xfrm>
            <a:off x="273249" y="323850"/>
            <a:ext cx="8639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700"/>
              <a:buFont typeface="Arial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bc13e29ba_0_193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2" name="Google Shape;192;g3dbc13e29ba_0_193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3" name="Google Shape;193;g3dbc13e29ba_0_19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1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2.xml"/><Relationship Id="rId21" Type="http://schemas.openxmlformats.org/officeDocument/2006/relationships/slideLayout" Target="../slideLayouts/slideLayout30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1.xml"/><Relationship Id="rId16" Type="http://schemas.openxmlformats.org/officeDocument/2006/relationships/slideLayout" Target="../slideLayouts/slideLayout25.xml"/><Relationship Id="rId2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8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descr="nyu_whit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30188" y="234950"/>
            <a:ext cx="6731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"/>
          <p:cNvSpPr/>
          <p:nvPr/>
        </p:nvSpPr>
        <p:spPr>
          <a:xfrm>
            <a:off x="0" y="-52372"/>
            <a:ext cx="9153525" cy="765160"/>
          </a:xfrm>
          <a:prstGeom prst="rect">
            <a:avLst/>
          </a:prstGeom>
          <a:solidFill>
            <a:srgbClr val="57068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30188" y="198365"/>
            <a:ext cx="1487999" cy="231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4" descr="C:\Users\Gmac\Downloads\final-logo-2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490084" y="120807"/>
            <a:ext cx="1367028" cy="48041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436880" y="0"/>
            <a:ext cx="8229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bc13e29ba_0_18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g3dbc13e29ba_0_18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obhanmoosavi/us-accident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bc13e29ba_0_1023"/>
          <p:cNvSpPr txBox="1">
            <a:spLocks noGrp="1"/>
          </p:cNvSpPr>
          <p:nvPr>
            <p:ph type="subTitle" idx="1"/>
          </p:nvPr>
        </p:nvSpPr>
        <p:spPr>
          <a:xfrm>
            <a:off x="616000" y="3468175"/>
            <a:ext cx="7452000" cy="55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Ananya Nadig an4968</a:t>
            </a:r>
            <a:endParaRPr sz="18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Isha Jariwala ij2221</a:t>
            </a:r>
            <a:endParaRPr sz="18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Rhea Shastri rs9459</a:t>
            </a:r>
            <a:endParaRPr sz="18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5A8C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9" name="Google Shape;199;g3dbc13e29ba_0_1023"/>
          <p:cNvSpPr txBox="1">
            <a:spLocks noGrp="1"/>
          </p:cNvSpPr>
          <p:nvPr>
            <p:ph type="title"/>
          </p:nvPr>
        </p:nvSpPr>
        <p:spPr>
          <a:xfrm>
            <a:off x="558050" y="621675"/>
            <a:ext cx="7712400" cy="849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>
                <a:latin typeface="Montserrat"/>
                <a:ea typeface="Montserrat"/>
                <a:cs typeface="Montserrat"/>
                <a:sym typeface="Montserrat"/>
              </a:rPr>
              <a:t>    CSGY-6513-C, BIG DATA SPRING 26 </a:t>
            </a:r>
            <a:r>
              <a:rPr lang="en-US" sz="12000" b="1"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 sz="28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g3dbc13e29ba_0_1023"/>
          <p:cNvSpPr txBox="1"/>
          <p:nvPr/>
        </p:nvSpPr>
        <p:spPr>
          <a:xfrm>
            <a:off x="440675" y="1707625"/>
            <a:ext cx="7995000" cy="11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FINAL PROJECT</a:t>
            </a:r>
            <a:endParaRPr sz="2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3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US Traffic Accident Severity &amp; Risk Modeling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bc13e29ba_0_889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Montserrat"/>
                <a:ea typeface="Montserrat"/>
                <a:cs typeface="Montserrat"/>
                <a:sym typeface="Montserrat"/>
              </a:rPr>
              <a:t>Contents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g3dbc13e29ba_0_889"/>
          <p:cNvSpPr txBox="1">
            <a:spLocks noGrp="1"/>
          </p:cNvSpPr>
          <p:nvPr>
            <p:ph type="body" idx="2"/>
          </p:nvPr>
        </p:nvSpPr>
        <p:spPr>
          <a:xfrm>
            <a:off x="4830950" y="404725"/>
            <a:ext cx="3945600" cy="432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Project Overview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Objectives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Dataset Overview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Data pipeline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Exploratory Data Analysis (EDA)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SSRI Analysis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Machine Learning Models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Feature Importance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Results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Challenges faced </a:t>
            </a:r>
            <a:endParaRPr sz="1600" b="1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 b="1">
                <a:solidFill>
                  <a:schemeClr val="dk1"/>
                </a:solidFill>
              </a:rPr>
              <a:t>Future Work/ Improvements</a:t>
            </a:r>
            <a:endParaRPr sz="1600" b="1">
              <a:solidFill>
                <a:schemeClr val="dk1"/>
              </a:solidFill>
            </a:endParaRPr>
          </a:p>
        </p:txBody>
      </p:sp>
      <p:cxnSp>
        <p:nvCxnSpPr>
          <p:cNvPr id="207" name="Google Shape;207;g3dbc13e29ba_0_889"/>
          <p:cNvCxnSpPr/>
          <p:nvPr/>
        </p:nvCxnSpPr>
        <p:spPr>
          <a:xfrm>
            <a:off x="2748657" y="2139536"/>
            <a:ext cx="6216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bc13e29ba_0_1943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latin typeface="Montserrat"/>
                <a:ea typeface="Montserrat"/>
                <a:cs typeface="Montserrat"/>
                <a:sym typeface="Montserrat"/>
              </a:rPr>
              <a:t>Project Overview </a:t>
            </a:r>
            <a:endParaRPr sz="3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g3dbc13e29ba_0_1943"/>
          <p:cNvSpPr txBox="1"/>
          <p:nvPr/>
        </p:nvSpPr>
        <p:spPr>
          <a:xfrm>
            <a:off x="383988" y="1000125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/>
              <a:t>Problem statement:</a:t>
            </a:r>
            <a:endParaRPr sz="16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Road traffic accidents are a major </a:t>
            </a:r>
            <a:r>
              <a:rPr lang="en-US" b="1"/>
              <a:t>public safety concern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Large-scale datasets (</a:t>
            </a:r>
            <a:r>
              <a:rPr lang="en-US" b="1"/>
              <a:t>millions of records</a:t>
            </a:r>
            <a:r>
              <a:rPr lang="en-US"/>
              <a:t>) make analysis challenging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Accident severity depends on </a:t>
            </a:r>
            <a:r>
              <a:rPr lang="en-US" b="1"/>
              <a:t>multiple interacting factors</a:t>
            </a:r>
            <a:r>
              <a:rPr lang="en-US"/>
              <a:t> (time, weather, location)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Traditional methods fail to </a:t>
            </a:r>
            <a:r>
              <a:rPr lang="en-US" b="1"/>
              <a:t>capture complex patterns at scale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600" b="1"/>
              <a:t>  Approach:</a:t>
            </a:r>
            <a:endParaRPr sz="16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Used </a:t>
            </a:r>
            <a:r>
              <a:rPr lang="en-US" b="1"/>
              <a:t>PySpark</a:t>
            </a:r>
            <a:r>
              <a:rPr lang="en-US"/>
              <a:t> for scalable, distributed data processing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Performed </a:t>
            </a:r>
            <a:r>
              <a:rPr lang="en-US" b="1"/>
              <a:t>data cleaning, preprocessing, and feature engineering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Conducted </a:t>
            </a:r>
            <a:r>
              <a:rPr lang="en-US" b="1"/>
              <a:t>EDA</a:t>
            </a:r>
            <a:r>
              <a:rPr lang="en-US"/>
              <a:t> to analyze severity trends across time and conditions</a:t>
            </a:r>
            <a:endParaRPr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/>
              <a:t>Built ML models (</a:t>
            </a:r>
            <a:r>
              <a:rPr lang="en-US" b="1"/>
              <a:t>Logistic Regression, Random Forest</a:t>
            </a:r>
            <a:r>
              <a:rPr lang="en-US"/>
              <a:t>) for prediction</a:t>
            </a:r>
            <a:endParaRPr/>
          </a:p>
          <a:p>
            <a:pPr marL="0" lvl="0" indent="0" algn="just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bc13e29ba_0_1948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latin typeface="Montserrat"/>
                <a:ea typeface="Montserrat"/>
                <a:cs typeface="Montserrat"/>
                <a:sym typeface="Montserrat"/>
              </a:rPr>
              <a:t>Objectives  </a:t>
            </a:r>
            <a:endParaRPr sz="3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g3dbc13e29ba_0_1948"/>
          <p:cNvSpPr txBox="1"/>
          <p:nvPr/>
        </p:nvSpPr>
        <p:spPr>
          <a:xfrm>
            <a:off x="383988" y="1000125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/>
              <a:t>🔹 Data &amp; Processing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n-US"/>
              <a:t>Scalable distributed pipeline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/>
              <a:t>Analyze severity trends (2016–2023)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/>
              <a:t>🔹 Analysis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n-US"/>
              <a:t>Environmental &amp; temporal risk factors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/>
              <a:t>Identify high-risk geographic regions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b="1"/>
              <a:t>🔹 Modeling &amp; Insights</a:t>
            </a:r>
            <a:endParaRPr b="1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n-US"/>
              <a:t>Build ML models (LR, RF)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/>
              <a:t>Develop SSRI for risk comparison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n-US"/>
              <a:t>Interpret key risk factors</a:t>
            </a:r>
            <a:endParaRPr sz="1600" b="1"/>
          </a:p>
          <a:p>
            <a:pPr marL="0" lvl="0" indent="0" algn="just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bc13e29ba_0_1953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latin typeface="Montserrat"/>
                <a:ea typeface="Montserrat"/>
                <a:cs typeface="Montserrat"/>
                <a:sym typeface="Montserrat"/>
              </a:rPr>
              <a:t>Dataset Overview  </a:t>
            </a:r>
            <a:endParaRPr sz="3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g3dbc13e29ba_0_1953"/>
          <p:cNvSpPr txBox="1"/>
          <p:nvPr/>
        </p:nvSpPr>
        <p:spPr>
          <a:xfrm>
            <a:off x="341150" y="889225"/>
            <a:ext cx="7292100" cy="31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➔"/>
            </a:pPr>
            <a:r>
              <a:rPr lang="en-US" sz="1500" b="1"/>
              <a:t>Dataset Name</a:t>
            </a:r>
            <a:r>
              <a:rPr lang="en-US" sz="1500"/>
              <a:t>: US Accidents Dataset (2016–2023)</a:t>
            </a:r>
            <a:endParaRPr sz="15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➔"/>
            </a:pPr>
            <a:r>
              <a:rPr lang="en-US" sz="1500" b="1"/>
              <a:t>Source</a:t>
            </a:r>
            <a:r>
              <a:rPr lang="en-US" sz="1500"/>
              <a:t>: Kaggle</a:t>
            </a:r>
            <a:endParaRPr sz="15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➔"/>
            </a:pPr>
            <a:r>
              <a:rPr lang="en-US" sz="1500" b="1"/>
              <a:t>Link</a:t>
            </a:r>
            <a:r>
              <a:rPr lang="en-US" sz="1500"/>
              <a:t>: </a:t>
            </a:r>
            <a:r>
              <a:rPr lang="en-US" sz="1500" u="sng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https://www.kaggle.com/datasets/sobhanmoosavi/us-accidents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➔"/>
            </a:pPr>
            <a:r>
              <a:rPr lang="en-US" sz="1500" b="1"/>
              <a:t>Dataset File Size: </a:t>
            </a:r>
            <a:r>
              <a:rPr lang="en-US" sz="1500"/>
              <a:t>2-3 GB</a:t>
            </a:r>
            <a:endParaRPr sz="15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➔"/>
            </a:pPr>
            <a:r>
              <a:rPr lang="en-US" sz="1500" b="1"/>
              <a:t>Approximate Number of Records :</a:t>
            </a:r>
            <a:r>
              <a:rPr lang="en-US" sz="1500"/>
              <a:t> 7+ million records</a:t>
            </a:r>
            <a:endParaRPr sz="15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➔"/>
            </a:pPr>
            <a:r>
              <a:rPr lang="en-US" sz="1500" b="1"/>
              <a:t>Project Subset: </a:t>
            </a:r>
            <a:r>
              <a:rPr lang="en-US" sz="1500"/>
              <a:t>3 million records sampling, sampled it down to 20%. </a:t>
            </a:r>
            <a:endParaRPr sz="15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Char char="➔"/>
            </a:pPr>
            <a:r>
              <a:rPr lang="en-US" sz="1500" b="1"/>
              <a:t>Geographic Coverage: </a:t>
            </a:r>
            <a:r>
              <a:rPr lang="en-US" sz="1500"/>
              <a:t>49 US states</a:t>
            </a: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bc13e29ba_0_1958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latin typeface="Montserrat"/>
                <a:ea typeface="Montserrat"/>
                <a:cs typeface="Montserrat"/>
                <a:sym typeface="Montserrat"/>
              </a:rPr>
              <a:t>Data Pipeline </a:t>
            </a:r>
            <a:endParaRPr sz="3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3dbc13e29ba_0_1958"/>
          <p:cNvSpPr txBox="1"/>
          <p:nvPr/>
        </p:nvSpPr>
        <p:spPr>
          <a:xfrm>
            <a:off x="301788" y="857050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pic>
        <p:nvPicPr>
          <p:cNvPr id="232" name="Google Shape;232;g3dbc13e29ba_0_1958" title="ChatGPT Image May 3, 2026, 02_58_52 PM.png"/>
          <p:cNvPicPr preferRelativeResize="0"/>
          <p:nvPr/>
        </p:nvPicPr>
        <p:blipFill rotWithShape="1">
          <a:blip r:embed="rId3">
            <a:alphaModFix/>
          </a:blip>
          <a:srcRect t="14214" b="12251"/>
          <a:stretch/>
        </p:blipFill>
        <p:spPr>
          <a:xfrm>
            <a:off x="407175" y="924475"/>
            <a:ext cx="7847351" cy="3473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bc13e29ba_0_1964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latin typeface="Montserrat"/>
                <a:ea typeface="Montserrat"/>
                <a:cs typeface="Montserrat"/>
                <a:sym typeface="Montserrat"/>
              </a:rPr>
              <a:t>EDA</a:t>
            </a:r>
            <a:endParaRPr sz="3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g3dbc13e29ba_0_1964"/>
          <p:cNvSpPr txBox="1"/>
          <p:nvPr/>
        </p:nvSpPr>
        <p:spPr>
          <a:xfrm>
            <a:off x="301788" y="857050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239" name="Google Shape;239;g3dbc13e29ba_0_1964"/>
          <p:cNvSpPr txBox="1"/>
          <p:nvPr/>
        </p:nvSpPr>
        <p:spPr>
          <a:xfrm>
            <a:off x="0" y="857050"/>
            <a:ext cx="4257300" cy="40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/>
              <a:t>What we did:</a:t>
            </a:r>
            <a:endParaRPr sz="1300" b="1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Analyzed dataset structure (~3M records)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Studied </a:t>
            </a:r>
            <a:r>
              <a:rPr lang="en-US" sz="1300" b="1"/>
              <a:t>severity distribution</a:t>
            </a:r>
            <a:r>
              <a:rPr lang="en-US" sz="1300"/>
              <a:t> → identified class imbalance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Explored </a:t>
            </a:r>
            <a:r>
              <a:rPr lang="en-US" sz="1300" b="1"/>
              <a:t>time patterns</a:t>
            </a:r>
            <a:r>
              <a:rPr lang="en-US" sz="1300"/>
              <a:t> (hour, day/night, monthly trends)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Examined </a:t>
            </a:r>
            <a:r>
              <a:rPr lang="en-US" sz="1300" b="1"/>
              <a:t>weather &amp; environmental factors</a:t>
            </a:r>
            <a:r>
              <a:rPr lang="en-US" sz="1300"/>
              <a:t> (visibility, temperature, weather conditions)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Performed </a:t>
            </a:r>
            <a:r>
              <a:rPr lang="en-US" sz="1300" b="1"/>
              <a:t>geographic analysis</a:t>
            </a:r>
            <a:r>
              <a:rPr lang="en-US" sz="1300"/>
              <a:t> (state &amp; city-level accident hotspots)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Analyzed </a:t>
            </a:r>
            <a:r>
              <a:rPr lang="en-US" sz="1300" b="1"/>
              <a:t>road infrastructure</a:t>
            </a:r>
            <a:r>
              <a:rPr lang="en-US" sz="1300"/>
              <a:t> (junctions, traffic signals, crossings)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Studied </a:t>
            </a:r>
            <a:r>
              <a:rPr lang="en-US" sz="1300" b="1"/>
              <a:t>feature relationships with severity</a:t>
            </a:r>
            <a:endParaRPr sz="1300" b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Checked </a:t>
            </a:r>
            <a:r>
              <a:rPr lang="en-US" sz="1300" b="1"/>
              <a:t>data quality &amp; outliers</a:t>
            </a:r>
            <a:endParaRPr sz="13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0" name="Google Shape;240;g3dbc13e29ba_0_19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7575" y="857050"/>
            <a:ext cx="4076226" cy="188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dbc13e29ba_0_1964"/>
          <p:cNvSpPr txBox="1"/>
          <p:nvPr/>
        </p:nvSpPr>
        <p:spPr>
          <a:xfrm>
            <a:off x="4477575" y="2801425"/>
            <a:ext cx="4178700" cy="18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/>
              <a:t>Key Insights:</a:t>
            </a:r>
            <a:endParaRPr sz="1300" b="1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Severe accidents are </a:t>
            </a:r>
            <a:r>
              <a:rPr lang="en-US" sz="1300" b="1"/>
              <a:t>less frequent → class imbalance</a:t>
            </a:r>
            <a:endParaRPr sz="1300" b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Low visibility &amp; bad weather → higher severity</a:t>
            </a:r>
            <a:endParaRPr sz="1300" b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Peak hours → more accidents</a:t>
            </a:r>
            <a:endParaRPr sz="1300" b="1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Certain </a:t>
            </a:r>
            <a:r>
              <a:rPr lang="en-US" sz="1300" b="1"/>
              <a:t>cities &amp; states → high-risk zones</a:t>
            </a:r>
            <a:endParaRPr sz="13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bc13e29ba_0_1974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VISUALIZATION: SEVERITY DISTRIBUTION 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g3dbc13e29ba_0_1974"/>
          <p:cNvSpPr txBox="1"/>
          <p:nvPr/>
        </p:nvSpPr>
        <p:spPr>
          <a:xfrm>
            <a:off x="301788" y="857050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248" name="Google Shape;248;g3dbc13e29ba_0_1974"/>
          <p:cNvSpPr txBox="1"/>
          <p:nvPr/>
        </p:nvSpPr>
        <p:spPr>
          <a:xfrm>
            <a:off x="0" y="857050"/>
            <a:ext cx="42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g3dbc13e29ba_0_1974" title="Unknow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0650" y="892799"/>
            <a:ext cx="4848850" cy="3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dbc13e29ba_0_1974"/>
          <p:cNvSpPr txBox="1"/>
          <p:nvPr/>
        </p:nvSpPr>
        <p:spPr>
          <a:xfrm>
            <a:off x="301800" y="1057325"/>
            <a:ext cx="2924700" cy="3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 b="1"/>
              <a:t>Key Insights:</a:t>
            </a:r>
            <a:endParaRPr sz="1300" b="1"/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Distribution is </a:t>
            </a:r>
            <a:r>
              <a:rPr lang="en-US" sz="1300" b="1"/>
              <a:t>heavily skewed toward Severity 2</a:t>
            </a:r>
            <a:r>
              <a:rPr lang="en-US" sz="1300"/>
              <a:t>, showing most accidents are non-critical.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Severe accidents (3 &amp; 4) are rare</a:t>
            </a:r>
            <a:r>
              <a:rPr lang="en-US" sz="1300"/>
              <a:t>, making prediction more challenging.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/>
              <a:t>Indicates </a:t>
            </a:r>
            <a:r>
              <a:rPr lang="en-US" sz="1300" b="1"/>
              <a:t>need for imbalance handling techniques</a:t>
            </a:r>
            <a:r>
              <a:rPr lang="en-US" sz="1300"/>
              <a:t> in machine learning models.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9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dbc13e29ba_0_1985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VISUALIZATION: ACCIDENTS BY HOUR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g3dbc13e29ba_0_1985"/>
          <p:cNvSpPr txBox="1"/>
          <p:nvPr/>
        </p:nvSpPr>
        <p:spPr>
          <a:xfrm>
            <a:off x="301788" y="857050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257" name="Google Shape;257;g3dbc13e29ba_0_1985"/>
          <p:cNvSpPr txBox="1"/>
          <p:nvPr/>
        </p:nvSpPr>
        <p:spPr>
          <a:xfrm>
            <a:off x="0" y="857050"/>
            <a:ext cx="42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g3dbc13e29ba_0_1985"/>
          <p:cNvSpPr txBox="1"/>
          <p:nvPr/>
        </p:nvSpPr>
        <p:spPr>
          <a:xfrm>
            <a:off x="301800" y="1057325"/>
            <a:ext cx="3074100" cy="3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/>
              <a:t>Key Insights: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Clear </a:t>
            </a:r>
            <a:r>
              <a:rPr lang="en-US" sz="1200" b="1"/>
              <a:t>bimodal pattern</a:t>
            </a:r>
            <a:r>
              <a:rPr lang="en-US" sz="1200"/>
              <a:t> with peaks during </a:t>
            </a:r>
            <a:r>
              <a:rPr lang="en-US" sz="1200" b="1"/>
              <a:t>morning (7–9 AM)</a:t>
            </a:r>
            <a:r>
              <a:rPr lang="en-US" sz="1200"/>
              <a:t> and </a:t>
            </a:r>
            <a:r>
              <a:rPr lang="en-US" sz="1200" b="1"/>
              <a:t>evening (4–6 PM)</a:t>
            </a:r>
            <a:r>
              <a:rPr lang="en-US" sz="1200"/>
              <a:t> rush hours.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/>
              <a:t>Evening peak is broader</a:t>
            </a:r>
            <a:r>
              <a:rPr lang="en-US" sz="1200"/>
              <a:t>, indicating extended congestion and higher sustained risk.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b="1"/>
              <a:t>Lowest accident frequency during late night (1–4 AM)</a:t>
            </a:r>
            <a:r>
              <a:rPr lang="en-US" sz="1200"/>
              <a:t> due to minimal traffic.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Time of day is a </a:t>
            </a:r>
            <a:r>
              <a:rPr lang="en-US" sz="1200" b="1"/>
              <a:t>strong factor influencing accident occurrence</a:t>
            </a:r>
            <a:r>
              <a:rPr lang="en-US" sz="1200"/>
              <a:t>, closely linked to traffic density.</a:t>
            </a:r>
            <a:endParaRPr sz="12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200" b="1"/>
          </a:p>
        </p:txBody>
      </p:sp>
      <p:pic>
        <p:nvPicPr>
          <p:cNvPr id="259" name="Google Shape;259;g3dbc13e29ba_0_1985" title="Unknown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3925" y="989525"/>
            <a:ext cx="5045949" cy="350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bc13e29ba_0_1994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VISUALIZATION: WEATHER CONDITIONS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g3dbc13e29ba_0_1994"/>
          <p:cNvSpPr txBox="1"/>
          <p:nvPr/>
        </p:nvSpPr>
        <p:spPr>
          <a:xfrm>
            <a:off x="301788" y="857050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266" name="Google Shape;266;g3dbc13e29ba_0_1994"/>
          <p:cNvSpPr txBox="1"/>
          <p:nvPr/>
        </p:nvSpPr>
        <p:spPr>
          <a:xfrm>
            <a:off x="0" y="857050"/>
            <a:ext cx="42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7" name="Google Shape;267;g3dbc13e29ba_0_1994"/>
          <p:cNvSpPr txBox="1"/>
          <p:nvPr/>
        </p:nvSpPr>
        <p:spPr>
          <a:xfrm>
            <a:off x="301800" y="1057325"/>
            <a:ext cx="3074100" cy="3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/>
              <a:t>Key Insights: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Accident distribution is </a:t>
            </a:r>
            <a:r>
              <a:rPr lang="en-US" sz="1200" b="1"/>
              <a:t>heavily skewed toward non-extreme weather conditions</a:t>
            </a:r>
            <a:r>
              <a:rPr lang="en-US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High counts in “Fair” weather suggest </a:t>
            </a:r>
            <a:r>
              <a:rPr lang="en-US" sz="1200" b="1"/>
              <a:t>exposure effect (more vehicles on road)</a:t>
            </a:r>
            <a:r>
              <a:rPr lang="en-US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Severe weather events are </a:t>
            </a:r>
            <a:r>
              <a:rPr lang="en-US" sz="1200" b="1"/>
              <a:t>less frequent but potentially higher risk per incident</a:t>
            </a:r>
            <a:r>
              <a:rPr lang="en-US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Indicates need to focus on </a:t>
            </a:r>
            <a:r>
              <a:rPr lang="en-US" sz="1200" b="1"/>
              <a:t>traffic patterns alongside environmental factors</a:t>
            </a:r>
            <a:r>
              <a:rPr lang="en-US" sz="1200"/>
              <a:t>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/>
          </a:p>
        </p:txBody>
      </p:sp>
      <p:pic>
        <p:nvPicPr>
          <p:cNvPr id="268" name="Google Shape;268;g3dbc13e29ba_0_1994" title="Unknown-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925" y="918375"/>
            <a:ext cx="5237774" cy="35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dbc13e29ba_0_2003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VISUALIZATION: SEVERITY TREND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g3dbc13e29ba_0_2003"/>
          <p:cNvSpPr txBox="1"/>
          <p:nvPr/>
        </p:nvSpPr>
        <p:spPr>
          <a:xfrm>
            <a:off x="301788" y="857050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275" name="Google Shape;275;g3dbc13e29ba_0_2003"/>
          <p:cNvSpPr txBox="1"/>
          <p:nvPr/>
        </p:nvSpPr>
        <p:spPr>
          <a:xfrm>
            <a:off x="0" y="857050"/>
            <a:ext cx="42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g3dbc13e29ba_0_2003"/>
          <p:cNvSpPr txBox="1"/>
          <p:nvPr/>
        </p:nvSpPr>
        <p:spPr>
          <a:xfrm>
            <a:off x="301800" y="1057325"/>
            <a:ext cx="33417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/>
              <a:t>Key Insights: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Severity rate shows a </a:t>
            </a:r>
            <a:r>
              <a:rPr lang="en-US" sz="1200" b="1"/>
              <a:t>clear declining trend from 2018 to 2023</a:t>
            </a:r>
            <a:r>
              <a:rPr lang="en-US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Peak severity observed around </a:t>
            </a:r>
            <a:r>
              <a:rPr lang="en-US" sz="1200" b="1"/>
              <a:t>2017–2018</a:t>
            </a:r>
            <a:r>
              <a:rPr lang="en-US" sz="1200"/>
              <a:t>, followed by a steady drop.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Significant reduction post-2020, possibly due to </a:t>
            </a:r>
            <a:r>
              <a:rPr lang="en-US" sz="1200" b="1"/>
              <a:t>changes in traffic patterns and mobility (post-pandemic effects)</a:t>
            </a:r>
            <a:r>
              <a:rPr lang="en-US" sz="1200"/>
              <a:t>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Indicates improvements in </a:t>
            </a:r>
            <a:r>
              <a:rPr lang="en-US" sz="1200" b="1"/>
              <a:t>road safety, awareness, or emergency response systems</a:t>
            </a:r>
            <a:r>
              <a:rPr lang="en-US" sz="1200"/>
              <a:t> over time.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Lower severity rate suggests </a:t>
            </a:r>
            <a:r>
              <a:rPr lang="en-US" sz="1200" b="1"/>
              <a:t>fewer high-impact accidents relative to total accidents</a:t>
            </a:r>
            <a:r>
              <a:rPr lang="en-US" sz="1200"/>
              <a:t>.</a:t>
            </a:r>
            <a:endParaRPr sz="1300" b="1"/>
          </a:p>
        </p:txBody>
      </p:sp>
      <p:pic>
        <p:nvPicPr>
          <p:cNvPr id="277" name="Google Shape;277;g3dbc13e29ba_0_2003" title="Unknown-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400" y="1034000"/>
            <a:ext cx="5087790" cy="335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bc13e29ba_0_2017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HIGH RISK GEOGRAPHICAL TREND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g3dbc13e29ba_0_2017"/>
          <p:cNvSpPr txBox="1"/>
          <p:nvPr/>
        </p:nvSpPr>
        <p:spPr>
          <a:xfrm>
            <a:off x="301800" y="857050"/>
            <a:ext cx="8205300" cy="3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284" name="Google Shape;284;g3dbc13e29ba_0_2017"/>
          <p:cNvSpPr txBox="1"/>
          <p:nvPr/>
        </p:nvSpPr>
        <p:spPr>
          <a:xfrm>
            <a:off x="0" y="857050"/>
            <a:ext cx="42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g3dbc13e29ba_0_2017"/>
          <p:cNvSpPr txBox="1"/>
          <p:nvPr/>
        </p:nvSpPr>
        <p:spPr>
          <a:xfrm>
            <a:off x="301800" y="766150"/>
            <a:ext cx="41388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200" b="1"/>
              <a:t>High Accident Volume (Counts)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States like </a:t>
            </a:r>
            <a:r>
              <a:rPr lang="en-US" sz="1200" b="1"/>
              <a:t>CA, FL, TX</a:t>
            </a:r>
            <a:r>
              <a:rPr lang="en-US" sz="1200"/>
              <a:t> have the highest accident counts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Driven by </a:t>
            </a:r>
            <a:r>
              <a:rPr lang="en-US" sz="1200" b="1"/>
              <a:t>high traffic volume and population density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Reflects </a:t>
            </a:r>
            <a:r>
              <a:rPr lang="en-US" sz="1200" b="1"/>
              <a:t>frequency</a:t>
            </a:r>
            <a:r>
              <a:rPr lang="en-US" sz="1200"/>
              <a:t>, not necessarily severity</a:t>
            </a:r>
            <a:endParaRPr sz="12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/>
          </a:p>
        </p:txBody>
      </p:sp>
      <p:pic>
        <p:nvPicPr>
          <p:cNvPr id="286" name="Google Shape;286;g3dbc13e29ba_0_20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6739" y="2441200"/>
            <a:ext cx="1435111" cy="197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dbc13e29ba_0_2017"/>
          <p:cNvSpPr txBox="1"/>
          <p:nvPr/>
        </p:nvSpPr>
        <p:spPr>
          <a:xfrm>
            <a:off x="4257300" y="766150"/>
            <a:ext cx="4776600" cy="38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300" b="1"/>
              <a:t>Severity Distribution (Per State)</a:t>
            </a:r>
            <a:endParaRPr sz="13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Shows breakdown of accidents by </a:t>
            </a:r>
            <a:r>
              <a:rPr lang="en-US" sz="1200" b="1"/>
              <a:t>severity levels (1–4)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Some states have a </a:t>
            </a:r>
            <a:r>
              <a:rPr lang="en-US" sz="1200" b="1"/>
              <a:t>higher proportion of severe cases (3 &amp; 4)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Used to compute </a:t>
            </a:r>
            <a:r>
              <a:rPr lang="en-US" sz="1200" b="1"/>
              <a:t>SSRI for normalized risk comparison</a:t>
            </a:r>
            <a:endParaRPr sz="12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/>
          </a:p>
        </p:txBody>
      </p:sp>
      <p:pic>
        <p:nvPicPr>
          <p:cNvPr id="288" name="Google Shape;288;g3dbc13e29ba_0_20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3862" y="2330825"/>
            <a:ext cx="1969125" cy="236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bc13e29ba_0_2029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SSRI ANALYSIS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g3dbc13e29ba_0_2029"/>
          <p:cNvSpPr txBox="1"/>
          <p:nvPr/>
        </p:nvSpPr>
        <p:spPr>
          <a:xfrm>
            <a:off x="301800" y="857050"/>
            <a:ext cx="8205300" cy="3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295" name="Google Shape;295;g3dbc13e29ba_0_2029"/>
          <p:cNvSpPr txBox="1"/>
          <p:nvPr/>
        </p:nvSpPr>
        <p:spPr>
          <a:xfrm>
            <a:off x="0" y="857050"/>
            <a:ext cx="42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g3dbc13e29ba_0_2029"/>
          <p:cNvSpPr txBox="1"/>
          <p:nvPr/>
        </p:nvSpPr>
        <p:spPr>
          <a:xfrm>
            <a:off x="301800" y="766150"/>
            <a:ext cx="4257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100" b="1"/>
              <a:t>State Severity Risk Index (SSRI):</a:t>
            </a:r>
            <a:endParaRPr sz="11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Measures proportion of </a:t>
            </a:r>
            <a:r>
              <a:rPr lang="en-US" sz="1100" b="1"/>
              <a:t>high-severity accidents (≥ 3)</a:t>
            </a:r>
            <a:r>
              <a:rPr lang="en-US" sz="1100"/>
              <a:t> across states.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Provides a </a:t>
            </a:r>
            <a:r>
              <a:rPr lang="en-US" sz="1100" b="1"/>
              <a:t>normalized risk metric</a:t>
            </a:r>
            <a:r>
              <a:rPr lang="en-US" sz="1100"/>
              <a:t>, not just raw accident counts.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States like </a:t>
            </a:r>
            <a:r>
              <a:rPr lang="en-US" sz="1100" b="1"/>
              <a:t>RI and GA show highest severity risk (~0.47)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Reveals </a:t>
            </a:r>
            <a:r>
              <a:rPr lang="en-US" sz="1100" b="1"/>
              <a:t>true high-risk states independent of traffic volume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Variation across states (~0.36–0.47) shows </a:t>
            </a:r>
            <a:r>
              <a:rPr lang="en-US" sz="1100" b="1"/>
              <a:t>meaningful geographic differences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Indicates influence of </a:t>
            </a:r>
            <a:r>
              <a:rPr lang="en-US" sz="1100" b="1"/>
              <a:t>road conditions, speed limits, and driver behavior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Some states with fewer accidents still show </a:t>
            </a:r>
            <a:r>
              <a:rPr lang="en-US" sz="1100" b="1"/>
              <a:t>higher severity risk (hidden hotspots)</a:t>
            </a:r>
            <a:r>
              <a:rPr lang="en-US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100"/>
              <a:t>Useful for </a:t>
            </a:r>
            <a:r>
              <a:rPr lang="en-US" sz="1100" b="1"/>
              <a:t>targeted safety planning and policy decisions</a:t>
            </a:r>
            <a:r>
              <a:rPr lang="en-US" sz="1100"/>
              <a:t>.</a:t>
            </a:r>
            <a:endParaRPr sz="1100" b="1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200" b="1"/>
          </a:p>
        </p:txBody>
      </p:sp>
      <p:pic>
        <p:nvPicPr>
          <p:cNvPr id="297" name="Google Shape;297;g3dbc13e29ba_0_2029" title="Unknown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3450" y="940125"/>
            <a:ext cx="4584901" cy="326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bc13e29ba_3_0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MACHINE LEARNING MODELS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g3dbc13e29ba_3_0"/>
          <p:cNvSpPr txBox="1"/>
          <p:nvPr/>
        </p:nvSpPr>
        <p:spPr>
          <a:xfrm>
            <a:off x="301800" y="857050"/>
            <a:ext cx="8205300" cy="3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5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304" name="Google Shape;304;g3dbc13e29ba_3_0"/>
          <p:cNvSpPr txBox="1"/>
          <p:nvPr/>
        </p:nvSpPr>
        <p:spPr>
          <a:xfrm>
            <a:off x="0" y="857050"/>
            <a:ext cx="42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g3dbc13e29ba_3_0"/>
          <p:cNvSpPr txBox="1"/>
          <p:nvPr/>
        </p:nvSpPr>
        <p:spPr>
          <a:xfrm>
            <a:off x="301800" y="940125"/>
            <a:ext cx="4257300" cy="34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/>
              <a:t>Logistic Regression - Baseline</a:t>
            </a:r>
            <a:endParaRPr sz="180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Used as  an interpretable baseline model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Predicts probability of high-severity accidents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Helps understand how features influence severity risk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/>
              <a:t>Baseline Issue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Dataset is imbalanced: low-severity accidents dominate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Baseline model predicted most cases as low severity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Severe-accident recall was very low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/>
              <a:t>Imbalance Handling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1:1 downsampling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2:1 downsampling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Class weighting</a:t>
            </a:r>
            <a:endParaRPr sz="1200" b="1"/>
          </a:p>
        </p:txBody>
      </p:sp>
      <p:pic>
        <p:nvPicPr>
          <p:cNvPr id="306" name="Google Shape;306;g3dbc13e29ba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8600" y="895311"/>
            <a:ext cx="3349700" cy="16748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g3dbc13e29ba_3_0"/>
          <p:cNvSpPr txBox="1"/>
          <p:nvPr/>
        </p:nvSpPr>
        <p:spPr>
          <a:xfrm>
            <a:off x="5108550" y="2608400"/>
            <a:ext cx="334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1"/>
              <a:t>Figure. </a:t>
            </a:r>
            <a:r>
              <a:rPr lang="en-US" sz="1100" i="1"/>
              <a:t>Confusion Matrix for LR - Baseline Model</a:t>
            </a:r>
            <a:endParaRPr sz="1100" i="1"/>
          </a:p>
        </p:txBody>
      </p:sp>
      <p:sp>
        <p:nvSpPr>
          <p:cNvPr id="308" name="Google Shape;308;g3dbc13e29ba_3_0"/>
          <p:cNvSpPr txBox="1"/>
          <p:nvPr/>
        </p:nvSpPr>
        <p:spPr>
          <a:xfrm>
            <a:off x="5044150" y="3110825"/>
            <a:ext cx="3651300" cy="13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 b="1"/>
              <a:t>Takeaway</a:t>
            </a:r>
            <a:endParaRPr sz="12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200"/>
              <a:t>Class imbalance caused poor severe-accident detection, so balancing strategies were needed to improve recall.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dbc13e29ba_3_11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MACHINE LEARNING MODELS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4" name="Google Shape;314;g3dbc13e29ba_3_11"/>
          <p:cNvSpPr txBox="1"/>
          <p:nvPr/>
        </p:nvSpPr>
        <p:spPr>
          <a:xfrm>
            <a:off x="301800" y="857050"/>
            <a:ext cx="8205300" cy="3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graphicFrame>
        <p:nvGraphicFramePr>
          <p:cNvPr id="315" name="Google Shape;315;g3dbc13e29ba_3_11"/>
          <p:cNvGraphicFramePr/>
          <p:nvPr/>
        </p:nvGraphicFramePr>
        <p:xfrm>
          <a:off x="530813" y="1456988"/>
          <a:ext cx="8082375" cy="3135905"/>
        </p:xfrm>
        <a:graphic>
          <a:graphicData uri="http://schemas.openxmlformats.org/drawingml/2006/table">
            <a:tbl>
              <a:tblPr>
                <a:noFill/>
                <a:tableStyleId>{159EF445-7C0D-49B7-814E-975EADA506A2}</a:tableStyleId>
              </a:tblPr>
              <a:tblGrid>
                <a:gridCol w="2737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3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9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1:1 Downsampling</a:t>
                      </a:r>
                      <a:endParaRPr sz="1500" b="1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2:1 Downsampling</a:t>
                      </a:r>
                      <a:endParaRPr sz="1500" b="1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/>
                        <a:t>Class Weighting</a:t>
                      </a:r>
                      <a:endParaRPr sz="1500" b="1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325">
                <a:tc>
                  <a:txBody>
                    <a:bodyPr/>
                    <a:lstStyle/>
                    <a:p>
                      <a:pPr marL="228600" lvl="0" indent="-203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High recall (~90%+)</a:t>
                      </a:r>
                      <a:endParaRPr/>
                    </a:p>
                    <a:p>
                      <a:pPr marL="228600" lvl="0" indent="-203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Lower precision (more false positives)</a:t>
                      </a:r>
                      <a:endParaRPr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03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More balanced precision &amp; recall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28600" lvl="0" indent="-2032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en-US"/>
                        <a:t>Similar to 1:1 but keeps full data</a:t>
                      </a:r>
                      <a:endParaRPr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3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6" name="Google Shape;316;g3dbc13e29ba_3_11"/>
          <p:cNvSpPr txBox="1"/>
          <p:nvPr/>
        </p:nvSpPr>
        <p:spPr>
          <a:xfrm>
            <a:off x="338375" y="897100"/>
            <a:ext cx="7458518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333333"/>
                </a:solidFill>
              </a:rPr>
              <a:t>Logistic Regression Performance: Confusion Matrix  </a:t>
            </a:r>
            <a:endParaRPr sz="1800" b="1" dirty="0">
              <a:solidFill>
                <a:srgbClr val="333333"/>
              </a:solidFill>
            </a:endParaRPr>
          </a:p>
        </p:txBody>
      </p:sp>
      <p:pic>
        <p:nvPicPr>
          <p:cNvPr id="317" name="Google Shape;317;g3dbc13e29ba_3_11" title="Screenshot 2026-05-03 at 6.36.15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950" y="2789600"/>
            <a:ext cx="2502401" cy="148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g3dbc13e29ba_3_11" title="Screenshot 2026-05-03 at 6.37.15 PM.png"/>
          <p:cNvPicPr preferRelativeResize="0"/>
          <p:nvPr/>
        </p:nvPicPr>
        <p:blipFill rotWithShape="1">
          <a:blip r:embed="rId4">
            <a:alphaModFix/>
          </a:blip>
          <a:srcRect l="2076"/>
          <a:stretch/>
        </p:blipFill>
        <p:spPr>
          <a:xfrm>
            <a:off x="3383750" y="2747675"/>
            <a:ext cx="2502400" cy="152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dbc13e29ba_3_11" title="Screenshot 2026-05-03 at 6.38.3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0100" y="2789600"/>
            <a:ext cx="2443099" cy="14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dbc13e29ba_3_26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latin typeface="Montserrat"/>
                <a:ea typeface="Montserrat"/>
                <a:cs typeface="Montserrat"/>
                <a:sym typeface="Montserrat"/>
              </a:rPr>
              <a:t>MACHINE LEARNING MODELS</a:t>
            </a:r>
            <a:endParaRPr sz="29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g3dbc13e29ba_3_26"/>
          <p:cNvSpPr txBox="1"/>
          <p:nvPr/>
        </p:nvSpPr>
        <p:spPr>
          <a:xfrm>
            <a:off x="301800" y="857050"/>
            <a:ext cx="8205300" cy="3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b="1"/>
          </a:p>
        </p:txBody>
      </p:sp>
      <p:sp>
        <p:nvSpPr>
          <p:cNvPr id="326" name="Google Shape;326;g3dbc13e29ba_3_26"/>
          <p:cNvSpPr txBox="1"/>
          <p:nvPr/>
        </p:nvSpPr>
        <p:spPr>
          <a:xfrm>
            <a:off x="338375" y="897100"/>
            <a:ext cx="41706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333333"/>
                </a:solidFill>
              </a:rPr>
              <a:t>Logistic Regression Insights</a:t>
            </a:r>
            <a:endParaRPr sz="1800" b="1">
              <a:solidFill>
                <a:srgbClr val="333333"/>
              </a:solidFill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Best at detecting severe accidents (high recall)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Over-predicts severe cases → many false positives</a:t>
            </a:r>
            <a:endParaRPr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Good for </a:t>
            </a:r>
            <a:r>
              <a:rPr lang="en-US" b="1"/>
              <a:t>risk-sensitive applications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/>
              <a:t>Takeaway:</a:t>
            </a:r>
            <a:br>
              <a:rPr lang="en-US" b="1"/>
            </a:br>
            <a:r>
              <a:rPr lang="en-US" b="1"/>
              <a:t>         </a:t>
            </a:r>
            <a:r>
              <a:rPr lang="en-US"/>
              <a:t>Strong detection model, but not balanced.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33333"/>
              </a:solidFill>
            </a:endParaRPr>
          </a:p>
        </p:txBody>
      </p:sp>
      <p:sp>
        <p:nvSpPr>
          <p:cNvPr id="327" name="Google Shape;327;g3dbc13e29ba_3_26"/>
          <p:cNvSpPr txBox="1"/>
          <p:nvPr/>
        </p:nvSpPr>
        <p:spPr>
          <a:xfrm>
            <a:off x="429450" y="3478525"/>
            <a:ext cx="8285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While Logistic Regression improved detection of severe accidents, it produced many false positives. To achieve a better balance, we evaluated a more powerful model: Random Forest.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dbc13e29ba_1_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MODELS-RANDOM FOREST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334" name="Google Shape;334;g3dbc13e29ba_1_34"/>
          <p:cNvSpPr txBox="1"/>
          <p:nvPr/>
        </p:nvSpPr>
        <p:spPr>
          <a:xfrm>
            <a:off x="457575" y="1017725"/>
            <a:ext cx="23109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/>
          </a:p>
        </p:txBody>
      </p:sp>
      <p:sp>
        <p:nvSpPr>
          <p:cNvPr id="335" name="Google Shape;335;g3dbc13e29ba_1_34"/>
          <p:cNvSpPr txBox="1"/>
          <p:nvPr/>
        </p:nvSpPr>
        <p:spPr>
          <a:xfrm>
            <a:off x="575100" y="961500"/>
            <a:ext cx="1806300" cy="16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Why Random Forest?</a:t>
            </a:r>
            <a:endParaRPr sz="11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g3dbc13e29ba_1_34"/>
          <p:cNvSpPr txBox="1"/>
          <p:nvPr/>
        </p:nvSpPr>
        <p:spPr>
          <a:xfrm>
            <a:off x="5238750" y="1302775"/>
            <a:ext cx="3216600" cy="1374900"/>
          </a:xfrm>
          <a:prstGeom prst="rect">
            <a:avLst/>
          </a:prstGeom>
          <a:solidFill>
            <a:srgbClr val="F5F4E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41413"/>
                </a:solidFill>
              </a:rPr>
              <a:t>- 30 trees, tuned max depth &amp; bins</a:t>
            </a:r>
            <a:endParaRPr sz="950">
              <a:solidFill>
                <a:srgbClr val="14141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41413"/>
                </a:solidFill>
              </a:rPr>
              <a:t>- Trained on full data + 1:1 downsampled variant</a:t>
            </a:r>
            <a:endParaRPr sz="950">
              <a:solidFill>
                <a:srgbClr val="14141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41413"/>
                </a:solidFill>
              </a:rPr>
              <a:t>- Custom threshold on </a:t>
            </a:r>
            <a:r>
              <a:rPr lang="en-US" sz="850">
                <a:solidFill>
                  <a:srgbClr val="141413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prob_array[1] &gt; 0.5</a:t>
            </a:r>
            <a:endParaRPr sz="850">
              <a:solidFill>
                <a:srgbClr val="141413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950">
                <a:solidFill>
                  <a:srgbClr val="141413"/>
                </a:solidFill>
              </a:rPr>
              <a:t>- </a:t>
            </a:r>
            <a:r>
              <a:rPr lang="en-US" sz="950"/>
              <a:t>Full data variant uses </a:t>
            </a:r>
            <a:r>
              <a:rPr lang="en-US" sz="950" b="1"/>
              <a:t>class weighting</a:t>
            </a:r>
            <a:r>
              <a:rPr lang="en-US" sz="950"/>
              <a:t> (weightCol) to handle imbalance</a:t>
            </a:r>
            <a:endParaRPr sz="950">
              <a:solidFill>
                <a:srgbClr val="141413"/>
              </a:solidFill>
            </a:endParaRPr>
          </a:p>
          <a:p>
            <a:pPr marL="0" lvl="0" indent="0" algn="l" rtl="0">
              <a:lnSpc>
                <a:spcPct val="150000"/>
              </a:lnSpc>
              <a:spcBef>
                <a:spcPts val="500"/>
              </a:spcBef>
              <a:spcAft>
                <a:spcPts val="600"/>
              </a:spcAft>
              <a:buNone/>
            </a:pPr>
            <a:endParaRPr sz="1000">
              <a:solidFill>
                <a:srgbClr val="141413"/>
              </a:solidFill>
            </a:endParaRPr>
          </a:p>
        </p:txBody>
      </p:sp>
      <p:sp>
        <p:nvSpPr>
          <p:cNvPr id="337" name="Google Shape;337;g3dbc13e29ba_1_34"/>
          <p:cNvSpPr txBox="1"/>
          <p:nvPr/>
        </p:nvSpPr>
        <p:spPr>
          <a:xfrm>
            <a:off x="770700" y="1338875"/>
            <a:ext cx="3801300" cy="572700"/>
          </a:xfrm>
          <a:prstGeom prst="rect">
            <a:avLst/>
          </a:prstGeom>
          <a:solidFill>
            <a:srgbClr val="EEEDF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3C3489"/>
                </a:solidFill>
              </a:rPr>
              <a:t>Handles non-linearity</a:t>
            </a:r>
            <a:endParaRPr sz="900" b="1">
              <a:solidFill>
                <a:srgbClr val="3C3489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34AB7"/>
                </a:solidFill>
              </a:rPr>
              <a:t>Captures complex patterns that Logistic Regression cannot model</a:t>
            </a:r>
            <a:endParaRPr sz="900">
              <a:solidFill>
                <a:srgbClr val="534AB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900">
              <a:solidFill>
                <a:srgbClr val="EEEDF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8" name="Google Shape;338;g3dbc13e29ba_1_34"/>
          <p:cNvSpPr txBox="1"/>
          <p:nvPr/>
        </p:nvSpPr>
        <p:spPr>
          <a:xfrm>
            <a:off x="133125" y="1591813"/>
            <a:ext cx="729600" cy="83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g3dbc13e29ba_1_34"/>
          <p:cNvSpPr txBox="1"/>
          <p:nvPr/>
        </p:nvSpPr>
        <p:spPr>
          <a:xfrm>
            <a:off x="770575" y="2008375"/>
            <a:ext cx="3828300" cy="503100"/>
          </a:xfrm>
          <a:prstGeom prst="rect">
            <a:avLst/>
          </a:prstGeom>
          <a:solidFill>
            <a:srgbClr val="EEEDF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3C3489"/>
                </a:solidFill>
              </a:rPr>
              <a:t>Ensemble approach</a:t>
            </a:r>
            <a:endParaRPr sz="900" b="1">
              <a:solidFill>
                <a:srgbClr val="3C3489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534AB7"/>
                </a:solidFill>
              </a:rPr>
              <a:t>Combines 30 decision trees → reduces overfitting and variance</a:t>
            </a:r>
            <a:endParaRPr sz="900">
              <a:solidFill>
                <a:srgbClr val="534AB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g3dbc13e29ba_1_34"/>
          <p:cNvSpPr txBox="1"/>
          <p:nvPr/>
        </p:nvSpPr>
        <p:spPr>
          <a:xfrm>
            <a:off x="93525" y="2493788"/>
            <a:ext cx="808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g3dbc13e29ba_1_34"/>
          <p:cNvSpPr txBox="1"/>
          <p:nvPr/>
        </p:nvSpPr>
        <p:spPr>
          <a:xfrm>
            <a:off x="1453625" y="4106525"/>
            <a:ext cx="6768300" cy="6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 Forest delivers the best overall performance — higher F1 (0.397), better AUC (0.644), and a stronger precision-recall balance than any Logistic Regression variant, making it the preferred model for severe accident detection.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g3dbc13e29ba_1_34"/>
          <p:cNvSpPr txBox="1"/>
          <p:nvPr/>
        </p:nvSpPr>
        <p:spPr>
          <a:xfrm>
            <a:off x="770575" y="2608275"/>
            <a:ext cx="3828300" cy="503100"/>
          </a:xfrm>
          <a:prstGeom prst="rect">
            <a:avLst/>
          </a:prstGeom>
          <a:solidFill>
            <a:srgbClr val="EEEDFE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dirty="0">
                <a:solidFill>
                  <a:srgbClr val="3C3489"/>
                </a:solidFill>
              </a:rPr>
              <a:t>Imbalance-aware</a:t>
            </a:r>
            <a:endParaRPr sz="900" b="1" dirty="0">
              <a:solidFill>
                <a:srgbClr val="3C3489"/>
              </a:solidFill>
            </a:endParaRPr>
          </a:p>
          <a:p>
            <a:pPr marL="0" lvl="0" indent="0" algn="l" rtl="0">
              <a:lnSpc>
                <a:spcPct val="14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rgbClr val="534AB7"/>
                </a:solidFill>
              </a:rPr>
              <a:t>More robust to class imbalance than a linear baseline model</a:t>
            </a:r>
            <a:endParaRPr sz="900" dirty="0">
              <a:solidFill>
                <a:srgbClr val="534AB7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g3dbc13e29ba_1_34"/>
          <p:cNvSpPr txBox="1"/>
          <p:nvPr/>
        </p:nvSpPr>
        <p:spPr>
          <a:xfrm>
            <a:off x="224625" y="3304475"/>
            <a:ext cx="4404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3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g3dbc13e29ba_1_34"/>
          <p:cNvSpPr txBox="1"/>
          <p:nvPr/>
        </p:nvSpPr>
        <p:spPr>
          <a:xfrm>
            <a:off x="5157850" y="1017725"/>
            <a:ext cx="19140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Inference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g3dbc13e29ba_1_34"/>
          <p:cNvSpPr txBox="1"/>
          <p:nvPr/>
        </p:nvSpPr>
        <p:spPr>
          <a:xfrm>
            <a:off x="5238750" y="2777200"/>
            <a:ext cx="21657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Variants Trained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g3dbc13e29ba_1_34"/>
          <p:cNvSpPr txBox="1"/>
          <p:nvPr/>
        </p:nvSpPr>
        <p:spPr>
          <a:xfrm>
            <a:off x="5296450" y="3111375"/>
            <a:ext cx="1636800" cy="293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RF full data + class weights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g3dbc13e29ba_1_34"/>
          <p:cNvSpPr/>
          <p:nvPr/>
        </p:nvSpPr>
        <p:spPr>
          <a:xfrm>
            <a:off x="7116175" y="3125138"/>
            <a:ext cx="1401900" cy="24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rgbClr val="3C3489"/>
                </a:solidFill>
                <a:latin typeface="Montserrat"/>
                <a:ea typeface="Montserrat"/>
                <a:cs typeface="Montserrat"/>
                <a:sym typeface="Montserrat"/>
              </a:rPr>
              <a:t>RF 1:1 Downsampled</a:t>
            </a:r>
            <a:endParaRPr sz="800" b="1">
              <a:solidFill>
                <a:srgbClr val="3C348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g3dbc13e29ba_1_34"/>
          <p:cNvSpPr txBox="1"/>
          <p:nvPr/>
        </p:nvSpPr>
        <p:spPr>
          <a:xfrm>
            <a:off x="6514750" y="3594350"/>
            <a:ext cx="8088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g3dbc13e29ba_1_34"/>
          <p:cNvSpPr txBox="1"/>
          <p:nvPr/>
        </p:nvSpPr>
        <p:spPr>
          <a:xfrm>
            <a:off x="5336300" y="3594338"/>
            <a:ext cx="1231200" cy="248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 threshold</a:t>
            </a:r>
            <a:endParaRPr sz="8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g3dbc13e29ba_1_34"/>
          <p:cNvSpPr txBox="1"/>
          <p:nvPr/>
        </p:nvSpPr>
        <p:spPr>
          <a:xfrm>
            <a:off x="665025" y="3208175"/>
            <a:ext cx="2165700" cy="2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bc13e29ba_1_68"/>
          <p:cNvSpPr txBox="1">
            <a:spLocks noGrp="1"/>
          </p:cNvSpPr>
          <p:nvPr>
            <p:ph type="title"/>
          </p:nvPr>
        </p:nvSpPr>
        <p:spPr>
          <a:xfrm>
            <a:off x="311700" y="25717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MACHINE LEARNING MODELS-RANDOM FOREST</a:t>
            </a:r>
            <a:endParaRPr sz="2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g3dbc13e29ba_1_68"/>
          <p:cNvSpPr/>
          <p:nvPr/>
        </p:nvSpPr>
        <p:spPr>
          <a:xfrm>
            <a:off x="1150200" y="829775"/>
            <a:ext cx="3477600" cy="412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g3dbc13e29ba_1_68"/>
          <p:cNvSpPr/>
          <p:nvPr/>
        </p:nvSpPr>
        <p:spPr>
          <a:xfrm>
            <a:off x="4933225" y="829875"/>
            <a:ext cx="3306900" cy="412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g3dbc13e29ba_1_68"/>
          <p:cNvSpPr txBox="1"/>
          <p:nvPr/>
        </p:nvSpPr>
        <p:spPr>
          <a:xfrm>
            <a:off x="1590500" y="1132225"/>
            <a:ext cx="988500" cy="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g3dbc13e29ba_1_68"/>
          <p:cNvSpPr txBox="1"/>
          <p:nvPr/>
        </p:nvSpPr>
        <p:spPr>
          <a:xfrm>
            <a:off x="1325425" y="952525"/>
            <a:ext cx="2098200" cy="5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 Forest(Base)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D3D3A"/>
                </a:solidFill>
                <a:highlight>
                  <a:srgbClr val="FFFFFF"/>
                </a:highlight>
              </a:rPr>
              <a:t>30 trees · maxDepth 8 · threshold 0.5 · weightCol applied to handle imbalance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g3dbc13e29ba_1_68"/>
          <p:cNvSpPr txBox="1"/>
          <p:nvPr/>
        </p:nvSpPr>
        <p:spPr>
          <a:xfrm>
            <a:off x="5261175" y="923375"/>
            <a:ext cx="2471100" cy="3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Random Forest(Balanced)</a:t>
            </a: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3D3D3A"/>
                </a:solidFill>
                <a:highlight>
                  <a:srgbClr val="FFFFFF"/>
                </a:highlight>
              </a:rPr>
              <a:t>30 trees · maxDepth 8 · threshold 0.5 · no weightCol · balanced training set</a:t>
            </a:r>
            <a:endParaRPr sz="750">
              <a:solidFill>
                <a:srgbClr val="3D3D3A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34AB7"/>
                </a:solidFill>
                <a:highlight>
                  <a:srgbClr val="FFFFFF"/>
                </a:highlight>
              </a:rPr>
              <a:t>Confusion matrix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2" name="Google Shape;362;g3dbc13e29ba_1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5425" y="1639628"/>
            <a:ext cx="1873650" cy="1171522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g3dbc13e29ba_1_68"/>
          <p:cNvSpPr txBox="1"/>
          <p:nvPr/>
        </p:nvSpPr>
        <p:spPr>
          <a:xfrm>
            <a:off x="1231025" y="1417413"/>
            <a:ext cx="9885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rgbClr val="534AB7"/>
                </a:solidFill>
                <a:highlight>
                  <a:srgbClr val="FFFFFF"/>
                </a:highlight>
              </a:rPr>
              <a:t>Confusion matrix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4" name="Google Shape;364;g3dbc13e29ba_1_68"/>
          <p:cNvSpPr/>
          <p:nvPr/>
        </p:nvSpPr>
        <p:spPr>
          <a:xfrm>
            <a:off x="1325425" y="2811150"/>
            <a:ext cx="6738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0.644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AUC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g3dbc13e29ba_1_68"/>
          <p:cNvSpPr/>
          <p:nvPr/>
        </p:nvSpPr>
        <p:spPr>
          <a:xfrm>
            <a:off x="2114038" y="2811150"/>
            <a:ext cx="6738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0.702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6" name="Google Shape;366;g3dbc13e29ba_1_68"/>
          <p:cNvSpPr/>
          <p:nvPr/>
        </p:nvSpPr>
        <p:spPr>
          <a:xfrm>
            <a:off x="2902650" y="2811150"/>
            <a:ext cx="6738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0.397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F1 Score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7" name="Google Shape;367;g3dbc13e29ba_1_68"/>
          <p:cNvSpPr/>
          <p:nvPr/>
        </p:nvSpPr>
        <p:spPr>
          <a:xfrm>
            <a:off x="3682325" y="2811150"/>
            <a:ext cx="7245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0.276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g3dbc13e29ba_1_68"/>
          <p:cNvSpPr txBox="1"/>
          <p:nvPr/>
        </p:nvSpPr>
        <p:spPr>
          <a:xfrm>
            <a:off x="1231025" y="3471475"/>
            <a:ext cx="3181200" cy="11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A5FA0"/>
                </a:solidFill>
                <a:highlight>
                  <a:srgbClr val="FFFFFF"/>
                </a:highlight>
              </a:rPr>
              <a:t>WHAT THIS TELL US</a:t>
            </a:r>
            <a:endParaRPr sz="900">
              <a:solidFill>
                <a:srgbClr val="7A5FA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26215C"/>
                </a:solidFill>
                <a:highlight>
                  <a:srgbClr val="FFFFFF"/>
                </a:highlight>
              </a:rPr>
              <a:t>70% of severe accidents caught</a:t>
            </a: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 — class weighting pushes the model to prioritize the minority class</a:t>
            </a:r>
            <a:endParaRPr sz="8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High false positives (102K) reflect the </a:t>
            </a:r>
            <a:r>
              <a:rPr lang="en-US" sz="800">
                <a:solidFill>
                  <a:srgbClr val="26215C"/>
                </a:solidFill>
                <a:highlight>
                  <a:srgbClr val="FFFFFF"/>
                </a:highlight>
              </a:rPr>
              <a:t>precision-recall tradeoff</a:t>
            </a: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 — model flags many non-severe cases as severe</a:t>
            </a:r>
            <a:endParaRPr sz="8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Only 16,582 severe cases missed — </a:t>
            </a:r>
            <a:r>
              <a:rPr lang="en-US" sz="800">
                <a:solidFill>
                  <a:srgbClr val="26215C"/>
                </a:solidFill>
                <a:highlight>
                  <a:srgbClr val="FFFFFF"/>
                </a:highlight>
              </a:rPr>
              <a:t>lowest FN</a:t>
            </a: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 across both RF variants, best for safety-critical use</a:t>
            </a:r>
            <a:endParaRPr sz="8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9" name="Google Shape;369;g3dbc13e29ba_1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76550" y="1639625"/>
            <a:ext cx="1873650" cy="977656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dbc13e29ba_1_68"/>
          <p:cNvSpPr/>
          <p:nvPr/>
        </p:nvSpPr>
        <p:spPr>
          <a:xfrm>
            <a:off x="5171000" y="2811150"/>
            <a:ext cx="6738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0.645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AUC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g3dbc13e29ba_1_68"/>
          <p:cNvSpPr/>
          <p:nvPr/>
        </p:nvSpPr>
        <p:spPr>
          <a:xfrm>
            <a:off x="5922538" y="2811150"/>
            <a:ext cx="6738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0.647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Recall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g3dbc13e29ba_1_68"/>
          <p:cNvSpPr/>
          <p:nvPr/>
        </p:nvSpPr>
        <p:spPr>
          <a:xfrm>
            <a:off x="6674100" y="2811150"/>
            <a:ext cx="6738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0.392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F1 Score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g3dbc13e29ba_1_68"/>
          <p:cNvSpPr/>
          <p:nvPr/>
        </p:nvSpPr>
        <p:spPr>
          <a:xfrm>
            <a:off x="7425650" y="2811150"/>
            <a:ext cx="724500" cy="5301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0.282</a:t>
            </a:r>
            <a:endParaRPr sz="1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g3dbc13e29ba_1_68"/>
          <p:cNvSpPr txBox="1"/>
          <p:nvPr/>
        </p:nvSpPr>
        <p:spPr>
          <a:xfrm>
            <a:off x="5238675" y="3471475"/>
            <a:ext cx="2516100" cy="11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A5FA0"/>
                </a:solidFill>
                <a:highlight>
                  <a:srgbClr val="FFFFFF"/>
                </a:highlight>
              </a:rPr>
              <a:t>WHAT THIS TELL US</a:t>
            </a:r>
            <a:endParaRPr sz="900">
              <a:solidFill>
                <a:srgbClr val="7A5FA0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85041"/>
                </a:solidFill>
                <a:highlight>
                  <a:srgbClr val="FFFFFF"/>
                </a:highlight>
              </a:rPr>
              <a:t>Fewer false alarms (91K FP)</a:t>
            </a: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 — balancing training data makes predictions more conservative</a:t>
            </a:r>
            <a:endParaRPr sz="8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Slightly </a:t>
            </a:r>
            <a:r>
              <a:rPr lang="en-US" sz="800">
                <a:solidFill>
                  <a:srgbClr val="085041"/>
                </a:solidFill>
                <a:highlight>
                  <a:srgbClr val="FFFFFF"/>
                </a:highlight>
              </a:rPr>
              <a:t>better precision (0.282)</a:t>
            </a: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 — when it predicts severe, it is more often correct</a:t>
            </a:r>
            <a:endParaRPr sz="8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Misses 3,074 more severe cases than base RF — </a:t>
            </a:r>
            <a:r>
              <a:rPr lang="en-US" sz="800">
                <a:solidFill>
                  <a:srgbClr val="085041"/>
                </a:solidFill>
                <a:highlight>
                  <a:srgbClr val="FFFFFF"/>
                </a:highlight>
              </a:rPr>
              <a:t>higher FN is a safety concern</a:t>
            </a:r>
            <a:r>
              <a:rPr lang="en-US" sz="800">
                <a:solidFill>
                  <a:srgbClr val="141413"/>
                </a:solidFill>
                <a:highlight>
                  <a:srgbClr val="FFFFFF"/>
                </a:highlight>
              </a:rPr>
              <a:t> for this use case</a:t>
            </a:r>
            <a:endParaRPr sz="800">
              <a:solidFill>
                <a:srgbClr val="141413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bc13e29ba_4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COMPARISON</a:t>
            </a:r>
            <a:endParaRPr sz="29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1" name="Google Shape;381;g3dbc13e29ba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1170125"/>
            <a:ext cx="8282974" cy="2010475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g3dbc13e29ba_4_0"/>
          <p:cNvSpPr txBox="1"/>
          <p:nvPr/>
        </p:nvSpPr>
        <p:spPr>
          <a:xfrm>
            <a:off x="462300" y="3297900"/>
            <a:ext cx="8219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solidFill>
                  <a:srgbClr val="333333"/>
                </a:solidFill>
              </a:rPr>
              <a:t>Comparison between Logistic Regression and Random Forest across multiple imbalance-handling strategies.</a:t>
            </a:r>
            <a:endParaRPr b="1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bc13e29ba_4_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MODEL COMPARISON</a:t>
            </a:r>
            <a:endParaRPr sz="29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9" name="Google Shape;389;g3dbc13e29ba_4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7525" y="1017725"/>
            <a:ext cx="7259574" cy="30836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dbc13e29ba_4_14"/>
          <p:cNvSpPr txBox="1"/>
          <p:nvPr/>
        </p:nvSpPr>
        <p:spPr>
          <a:xfrm>
            <a:off x="2206913" y="4170875"/>
            <a:ext cx="4840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Chart compares </a:t>
            </a:r>
            <a:r>
              <a:rPr lang="en-US" sz="1100" b="1"/>
              <a:t>Precision, Recall, and F1 Score</a:t>
            </a:r>
            <a:r>
              <a:rPr lang="en-US" sz="1100"/>
              <a:t> for severe accidents.</a:t>
            </a:r>
            <a:endParaRPr sz="18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dbc13e29ba_0_1809"/>
          <p:cNvSpPr txBox="1">
            <a:spLocks noGrp="1"/>
          </p:cNvSpPr>
          <p:nvPr>
            <p:ph type="title"/>
          </p:nvPr>
        </p:nvSpPr>
        <p:spPr>
          <a:xfrm>
            <a:off x="235950" y="275361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latin typeface="Montserrat"/>
                <a:ea typeface="Montserrat"/>
                <a:cs typeface="Montserrat"/>
                <a:sym typeface="Montserrat"/>
              </a:rPr>
              <a:t>CHALLENGES FACED</a:t>
            </a:r>
            <a:endParaRPr sz="3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g3dbc13e29ba_0_1809"/>
          <p:cNvSpPr txBox="1"/>
          <p:nvPr/>
        </p:nvSpPr>
        <p:spPr>
          <a:xfrm>
            <a:off x="293250" y="894900"/>
            <a:ext cx="8463000" cy="34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 b="1"/>
          </a:p>
        </p:txBody>
      </p:sp>
      <p:pic>
        <p:nvPicPr>
          <p:cNvPr id="397" name="Google Shape;397;g3dbc13e29ba_0_1809" title="ChatGPT Image May 3, 2026, 04_18_11 PM.png"/>
          <p:cNvPicPr preferRelativeResize="0"/>
          <p:nvPr/>
        </p:nvPicPr>
        <p:blipFill rotWithShape="1">
          <a:blip r:embed="rId3">
            <a:alphaModFix/>
          </a:blip>
          <a:srcRect t="18177" b="19056"/>
          <a:stretch/>
        </p:blipFill>
        <p:spPr>
          <a:xfrm>
            <a:off x="1160538" y="972588"/>
            <a:ext cx="6728417" cy="3513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dbc13e29ba_0_1937"/>
          <p:cNvSpPr txBox="1">
            <a:spLocks noGrp="1"/>
          </p:cNvSpPr>
          <p:nvPr>
            <p:ph type="title"/>
          </p:nvPr>
        </p:nvSpPr>
        <p:spPr>
          <a:xfrm>
            <a:off x="235950" y="275361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latin typeface="Montserrat"/>
                <a:ea typeface="Montserrat"/>
                <a:cs typeface="Montserrat"/>
                <a:sym typeface="Montserrat"/>
              </a:rPr>
              <a:t>FUTURE WORK AND IMPROVEMENTS</a:t>
            </a:r>
            <a:endParaRPr sz="33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g3dbc13e29ba_0_1937"/>
          <p:cNvSpPr txBox="1"/>
          <p:nvPr/>
        </p:nvSpPr>
        <p:spPr>
          <a:xfrm>
            <a:off x="359550" y="1188250"/>
            <a:ext cx="8154900" cy="3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Real-Time Data Integration:</a:t>
            </a:r>
            <a:r>
              <a:rPr lang="en-US" sz="1300"/>
              <a:t> Incorporating live traffic and weather data will enable dynamic and timely risk prediction, allowing the model to adapt to changing road conditions.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Enhanced Feature Set:</a:t>
            </a:r>
            <a:r>
              <a:rPr lang="en-US" sz="1300"/>
              <a:t> Including additional factors such as traffic volume, road type, and driver behavior will provide deeper context and improve overall model accuracy.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Advanced Modeling Techniques:</a:t>
            </a:r>
            <a:r>
              <a:rPr lang="en-US" sz="1300"/>
              <a:t> Applying models like XGBoost and Deep Learning can capture complex, non-linear relationships that traditional models may miss.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Handling Class Imbalance:</a:t>
            </a:r>
            <a:r>
              <a:rPr lang="en-US" sz="1300"/>
              <a:t> Using techniques such as SMOTE and advanced resampling will improve the model’s ability to detect rare but critical high-severity accidents.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Interactive Dashboard Development:</a:t>
            </a:r>
            <a:r>
              <a:rPr lang="en-US" sz="1300"/>
              <a:t> Developing a user-friendly dashboard will help visualize trends and support decision-making for stakeholders and policymakers.</a:t>
            </a:r>
            <a:endParaRPr sz="130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sz="1300" b="1"/>
              <a:t>Fine-Grained Risk Prediction:</a:t>
            </a:r>
            <a:r>
              <a:rPr lang="en-US" sz="1300"/>
              <a:t> Extending the analysis to city-level and route-level predictions will enable more localized, targeted safety interventions.</a:t>
            </a:r>
            <a:endParaRPr sz="13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bc13e29ba_0_1552"/>
          <p:cNvSpPr txBox="1">
            <a:spLocks noGrp="1"/>
          </p:cNvSpPr>
          <p:nvPr>
            <p:ph type="title"/>
          </p:nvPr>
        </p:nvSpPr>
        <p:spPr>
          <a:xfrm>
            <a:off x="231350" y="275350"/>
            <a:ext cx="8424900" cy="5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3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9" name="Google Shape;409;g3dbc13e29ba_0_1552"/>
          <p:cNvSpPr txBox="1"/>
          <p:nvPr/>
        </p:nvSpPr>
        <p:spPr>
          <a:xfrm>
            <a:off x="383988" y="1000125"/>
            <a:ext cx="8205300" cy="335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500" b="1"/>
              <a:t>Scalable Processing</a:t>
            </a:r>
            <a:br>
              <a:rPr lang="en-US" sz="1500" b="1"/>
            </a:br>
            <a:r>
              <a:rPr lang="en-US" sz="1500"/>
              <a:t>Built a distributed pipeline using PySpark for large-scale data analysis.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500" b="1"/>
              <a:t>Key Insights</a:t>
            </a:r>
            <a:br>
              <a:rPr lang="en-US" sz="1500" b="1"/>
            </a:br>
            <a:r>
              <a:rPr lang="en-US" sz="1500"/>
              <a:t>Identified impact of time, weather, and location on accident severity.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500" b="1"/>
              <a:t>Model Comparison</a:t>
            </a:r>
            <a:br>
              <a:rPr lang="en-US" sz="1500" b="1"/>
            </a:br>
            <a:r>
              <a:rPr lang="en-US" sz="1500"/>
              <a:t>Random Forest outperformed Logistic Regression in capturing complex patterns.</a:t>
            </a:r>
            <a:endParaRPr sz="1500"/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Times New Roman"/>
              <a:buAutoNum type="arabicPeriod"/>
            </a:pPr>
            <a:r>
              <a:rPr lang="en-US" sz="1500" b="1"/>
              <a:t>Key Contribution</a:t>
            </a:r>
            <a:br>
              <a:rPr lang="en-US" sz="1500" b="1"/>
            </a:br>
            <a:r>
              <a:rPr lang="en-US" sz="1500"/>
              <a:t>Developed SSRI for normalized comparison of severity risk across states. </a:t>
            </a:r>
            <a:endParaRPr sz="1500"/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500" b="1"/>
              <a:t>We successfully met all the objectives outlined in our proposal, from building a scalable pipeline to developing SSRI and comparing machine learning models.</a:t>
            </a:r>
            <a:endParaRPr sz="15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bc13e29ba_3_49"/>
          <p:cNvSpPr txBox="1">
            <a:spLocks noGrp="1"/>
          </p:cNvSpPr>
          <p:nvPr>
            <p:ph type="title"/>
          </p:nvPr>
        </p:nvSpPr>
        <p:spPr>
          <a:xfrm>
            <a:off x="514325" y="2228850"/>
            <a:ext cx="41121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Montserrat"/>
                <a:ea typeface="Montserrat"/>
                <a:cs typeface="Montserrat"/>
                <a:sym typeface="Montserrat"/>
              </a:rPr>
              <a:t>THANK YOU!</a:t>
            </a:r>
            <a:endParaRPr sz="4400"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15" name="Google Shape;415;g3dbc13e29ba_3_49"/>
          <p:cNvCxnSpPr/>
          <p:nvPr/>
        </p:nvCxnSpPr>
        <p:spPr>
          <a:xfrm>
            <a:off x="5257804" y="0"/>
            <a:ext cx="6900" cy="514650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16" name="Google Shape;416;g3dbc13e29ba_3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63" y="0"/>
            <a:ext cx="385762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g3dbc13e29ba_3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6363" y="0"/>
            <a:ext cx="38576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YU Schools Master Templat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Microsoft Macintosh PowerPoint</Application>
  <PresentationFormat>On-screen Show (16:9)</PresentationFormat>
  <Paragraphs>229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Montserrat</vt:lpstr>
      <vt:lpstr>Calibri</vt:lpstr>
      <vt:lpstr>Montserrat Black</vt:lpstr>
      <vt:lpstr>Montserrat Medium</vt:lpstr>
      <vt:lpstr>Times New Roman</vt:lpstr>
      <vt:lpstr>Roboto Mono</vt:lpstr>
      <vt:lpstr>Montserrat ExtraBold</vt:lpstr>
      <vt:lpstr>Noto Sans Symbols</vt:lpstr>
      <vt:lpstr>Courier New</vt:lpstr>
      <vt:lpstr>Arial</vt:lpstr>
      <vt:lpstr>NYU Schools Master Template</vt:lpstr>
      <vt:lpstr>NYU Bold</vt:lpstr>
      <vt:lpstr>    CSGY-6513-C, BIG DATA SPRING 26   </vt:lpstr>
      <vt:lpstr>Contents </vt:lpstr>
      <vt:lpstr>Project Overview </vt:lpstr>
      <vt:lpstr>Objectives  </vt:lpstr>
      <vt:lpstr>Dataset Overview  </vt:lpstr>
      <vt:lpstr>Data Pipeline </vt:lpstr>
      <vt:lpstr>EDA</vt:lpstr>
      <vt:lpstr>VISUALIZATION: SEVERITY DISTRIBUTION </vt:lpstr>
      <vt:lpstr>VISUALIZATION: ACCIDENTS BY HOUR</vt:lpstr>
      <vt:lpstr>VISUALIZATION: WEATHER CONDITIONS</vt:lpstr>
      <vt:lpstr>VISUALIZATION: SEVERITY TREND</vt:lpstr>
      <vt:lpstr>HIGH RISK GEOGRAPHICAL TREND</vt:lpstr>
      <vt:lpstr>SSRI ANALYSIS</vt:lpstr>
      <vt:lpstr>MACHINE LEARNING MODELS</vt:lpstr>
      <vt:lpstr>MACHINE LEARNING MODELS</vt:lpstr>
      <vt:lpstr>MACHINE LEARNING MODELS</vt:lpstr>
      <vt:lpstr>MACHINE LEARNING MODELS-RANDOM FOREST </vt:lpstr>
      <vt:lpstr>MACHINE LEARNING MODELS-RANDOM FOREST  </vt:lpstr>
      <vt:lpstr>MODEL COMPARISON </vt:lpstr>
      <vt:lpstr>MODEL COMPARISON </vt:lpstr>
      <vt:lpstr>CHALLENGES FACED</vt:lpstr>
      <vt:lpstr>FUTURE WORK AND IMPROVEMENTS</vt:lpstr>
      <vt:lpstr>CONCLUSION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Jenna Bresnahan</dc:creator>
  <cp:lastModifiedBy>Isha Jariwala</cp:lastModifiedBy>
  <cp:revision>1</cp:revision>
  <dcterms:created xsi:type="dcterms:W3CDTF">2014-02-16T13:04:33Z</dcterms:created>
  <dcterms:modified xsi:type="dcterms:W3CDTF">2026-05-05T15:22:43Z</dcterms:modified>
</cp:coreProperties>
</file>